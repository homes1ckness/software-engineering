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822" r:id="rId3"/>
    <p:sldId id="823" r:id="rId4"/>
    <p:sldId id="824" r:id="rId5"/>
    <p:sldId id="829" r:id="rId6"/>
    <p:sldId id="830" r:id="rId7"/>
    <p:sldId id="828" r:id="rId8"/>
    <p:sldId id="833" r:id="rId9"/>
    <p:sldId id="834" r:id="rId10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9EC782A0-D5D3-480F-8DDF-1BF1EBC68B32}">
          <p14:sldIdLst>
            <p14:sldId id="256"/>
            <p14:sldId id="822"/>
            <p14:sldId id="823"/>
            <p14:sldId id="824"/>
            <p14:sldId id="829"/>
            <p14:sldId id="830"/>
            <p14:sldId id="828"/>
            <p14:sldId id="833"/>
            <p14:sldId id="8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23E75"/>
    <a:srgbClr val="F5E3F1"/>
    <a:srgbClr val="FBF3F9"/>
    <a:srgbClr val="F7E9F4"/>
    <a:srgbClr val="EED2E9"/>
    <a:srgbClr val="782E6A"/>
    <a:srgbClr val="DEB4D3"/>
    <a:srgbClr val="763365"/>
    <a:srgbClr val="602A52"/>
    <a:srgbClr val="B486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09" autoAdjust="0"/>
    <p:restoredTop sz="75334" autoAdjust="0"/>
  </p:normalViewPr>
  <p:slideViewPr>
    <p:cSldViewPr snapToGrid="0">
      <p:cViewPr>
        <p:scale>
          <a:sx n="66" d="100"/>
          <a:sy n="66" d="100"/>
        </p:scale>
        <p:origin x="780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14EB27-F56E-4B38-A64D-77E916C7E3C2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F0C2E0-DB0F-47C5-A43C-C8ACA6B325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2521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7A9DA-9C18-4BFC-E79D-7B6F7327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EAFC30F-8AD7-BB1C-3F0C-43F40FF6D2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4D0F52-D737-2F2E-49E9-93BEBA44AF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C90EE9-B1EE-DFF7-3990-38F3E13021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6F0C2E0-DB0F-47C5-A43C-C8ACA6B3255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0731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3590"/>
          <a:stretch>
            <a:fillRect/>
          </a:stretch>
        </p:blipFill>
        <p:spPr>
          <a:xfrm>
            <a:off x="1" y="0"/>
            <a:ext cx="1491916" cy="6858000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-3137" y="0"/>
            <a:ext cx="1491917" cy="6858000"/>
          </a:xfrm>
          <a:prstGeom prst="rect">
            <a:avLst/>
          </a:prstGeom>
          <a:solidFill>
            <a:srgbClr val="782E6A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1735824" y="732495"/>
            <a:ext cx="8312061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278" y="123098"/>
            <a:ext cx="1022564" cy="102256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CEFD8153-04B7-FA14-93AC-0E780E77E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193" y="133100"/>
            <a:ext cx="8569349" cy="501280"/>
          </a:xfrm>
        </p:spPr>
        <p:txBody>
          <a:bodyPr/>
          <a:lstStyle>
            <a:lvl1pPr>
              <a:defRPr sz="2400" b="1">
                <a:solidFill>
                  <a:srgbClr val="823E75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D98BA2-C128-0064-D880-42A681D18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381F0C-C3ED-C0DC-B5A6-73C63DBFC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03B0E05-5352-6866-7D64-FE15EFD80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25FC96-4BEB-4BF6-BF7B-166471207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26513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451D52-2092-47CA-95C8-A980C030BFB8}" type="datetimeFigureOut">
              <a:rPr lang="zh-CN" altLang="en-US" smtClean="0"/>
              <a:t>2026/4/12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4EEEE-F59F-4B6D-B007-3B73B55D0A5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3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407" y="-747421"/>
            <a:ext cx="6901186" cy="6858000"/>
          </a:xfrm>
          <a:prstGeom prst="rect">
            <a:avLst/>
          </a:prstGeom>
          <a:effectLst/>
        </p:spPr>
      </p:pic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32441" r="100" b="35502"/>
          <a:stretch>
            <a:fillRect/>
          </a:stretch>
        </p:blipFill>
        <p:spPr>
          <a:xfrm>
            <a:off x="0" y="4836159"/>
            <a:ext cx="12191999" cy="2124102"/>
          </a:xfrm>
          <a:prstGeom prst="rect">
            <a:avLst/>
          </a:prstGeom>
        </p:spPr>
      </p:pic>
      <p:sp>
        <p:nvSpPr>
          <p:cNvPr id="17" name="任意多边形: 形状 16"/>
          <p:cNvSpPr/>
          <p:nvPr/>
        </p:nvSpPr>
        <p:spPr>
          <a:xfrm>
            <a:off x="-3" y="4836159"/>
            <a:ext cx="12192000" cy="2142423"/>
          </a:xfrm>
          <a:prstGeom prst="rect">
            <a:avLst/>
          </a:prstGeom>
          <a:solidFill>
            <a:srgbClr val="782E6A">
              <a:alpha val="89000"/>
            </a:srgbClr>
          </a:solidFill>
          <a:ln>
            <a:solidFill>
              <a:srgbClr val="782E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602216" y="2466574"/>
            <a:ext cx="89875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第三次作业</a:t>
            </a:r>
            <a:r>
              <a:rPr lang="en-US" altLang="zh-CN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软件设计</a:t>
            </a:r>
          </a:p>
        </p:txBody>
      </p:sp>
      <p:pic>
        <p:nvPicPr>
          <p:cNvPr id="12" name="图形 11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0579" y="150630"/>
            <a:ext cx="4313618" cy="16916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88152B-5FCD-DE00-C647-920916032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dirty="0"/>
              <a:t>软件工程大作业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CAA85DC-F946-7D99-DF6D-E303A81EDEE5}"/>
              </a:ext>
            </a:extLst>
          </p:cNvPr>
          <p:cNvSpPr txBox="1"/>
          <p:nvPr/>
        </p:nvSpPr>
        <p:spPr>
          <a:xfrm>
            <a:off x="1660064" y="1572714"/>
            <a:ext cx="6097604" cy="4205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开发一个面向单细胞高维向量数据的近似最近邻（</a:t>
            </a:r>
            <a:r>
              <a:rPr lang="en-US" altLang="zh-CN" dirty="0"/>
              <a:t>ANN</a:t>
            </a:r>
            <a:r>
              <a:rPr lang="zh-CN" altLang="en-US" dirty="0"/>
              <a:t>）检索系统，为大规模单细胞数据提供高效的相似样本检索能力。</a:t>
            </a:r>
            <a:endParaRPr lang="en-US" altLang="zh-CN" dirty="0"/>
          </a:p>
          <a:p>
            <a:pPr>
              <a:lnSpc>
                <a:spcPct val="150000"/>
              </a:lnSpc>
            </a:pP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dirty="0"/>
              <a:t>系统支持单细胞数据的读取与预处理、精确检索与近似检索、多种索引结构管理、查询结果展示以及性能评测等功能。用户可以通过 </a:t>
            </a:r>
            <a:r>
              <a:rPr lang="en-US" altLang="zh-CN" dirty="0"/>
              <a:t>Web </a:t>
            </a:r>
            <a:r>
              <a:rPr lang="zh-CN" altLang="en-US" dirty="0"/>
              <a:t>页面输入查询细胞或查询向量，设置检索参数，获取 </a:t>
            </a:r>
            <a:r>
              <a:rPr lang="en-US" altLang="zh-CN" dirty="0"/>
              <a:t>top-k </a:t>
            </a:r>
            <a:r>
              <a:rPr lang="zh-CN" altLang="en-US" dirty="0"/>
              <a:t>相似结果，并查看查询耗时、索引状态和评测指标等信息。</a:t>
            </a:r>
          </a:p>
          <a:p>
            <a:pPr>
              <a:lnSpc>
                <a:spcPct val="150000"/>
              </a:lnSpc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F0F9C05-3D47-66FC-910C-8FBE9C63FF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0842" r="50259" b="18671"/>
          <a:stretch>
            <a:fillRect/>
          </a:stretch>
        </p:blipFill>
        <p:spPr>
          <a:xfrm>
            <a:off x="7889214" y="1834977"/>
            <a:ext cx="4302786" cy="3234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4310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973B7-0A29-96CA-48E7-A0C22D542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E169C-8C20-ABD2-9DCD-9D0A2A3AA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背景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E0D2951-768B-D7F9-5011-DA4C9B9BABDA}"/>
              </a:ext>
            </a:extLst>
          </p:cNvPr>
          <p:cNvSpPr txBox="1"/>
          <p:nvPr/>
        </p:nvSpPr>
        <p:spPr>
          <a:xfrm>
            <a:off x="1756193" y="3274340"/>
            <a:ext cx="609760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随着单细胞测序技术的发展，单细胞数据的规模不断扩大，一个实验往往可以产生数十万个细胞样本。经过数值化表示后，每个细胞都可以看作一个高维向量。</a:t>
            </a:r>
            <a:endParaRPr lang="en-US" altLang="zh-CN" dirty="0"/>
          </a:p>
          <a:p>
            <a:pPr>
              <a:buNone/>
            </a:pPr>
            <a:r>
              <a:rPr lang="zh-CN" altLang="en-US" dirty="0"/>
              <a:t>传统的精确最近邻搜索方法虽然能够返回准确结果，但在数据规模较大、维度较高的情况下，往往存在查询效率低、响应时间长、计算资源消耗大的问题。近似最近邻检索（</a:t>
            </a:r>
            <a:r>
              <a:rPr lang="en-US" altLang="zh-CN" dirty="0"/>
              <a:t>Approximate Nearest Neighbor, ANN</a:t>
            </a:r>
            <a:r>
              <a:rPr lang="zh-CN" altLang="en-US" dirty="0"/>
              <a:t>）技术能够在保证较高检索质量的同时显著降低查询开销，因此已广泛应用于图像搜索、推荐系统、语义检索等场景，也适合用于单细胞数据。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258E9FA-9F19-D206-111D-0E11DB4B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047" r="46687"/>
          <a:stretch>
            <a:fillRect/>
          </a:stretch>
        </p:blipFill>
        <p:spPr>
          <a:xfrm>
            <a:off x="7754681" y="1516189"/>
            <a:ext cx="4216063" cy="2915008"/>
          </a:xfrm>
          <a:prstGeom prst="rect">
            <a:avLst/>
          </a:prstGeom>
        </p:spPr>
      </p:pic>
      <p:sp>
        <p:nvSpPr>
          <p:cNvPr id="12" name="AutoShape 7">
            <a:extLst>
              <a:ext uri="{FF2B5EF4-FFF2-40B4-BE49-F238E27FC236}">
                <a16:creationId xmlns:a16="http://schemas.microsoft.com/office/drawing/2014/main" id="{02939B1A-C56A-EED5-1FB5-5069E59B5D4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EEE8DCA7-8F56-7121-CF68-467E07539B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2775" r="44324"/>
          <a:stretch>
            <a:fillRect/>
          </a:stretch>
        </p:blipFill>
        <p:spPr>
          <a:xfrm>
            <a:off x="7754681" y="4548174"/>
            <a:ext cx="4385942" cy="1430903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F65AB3BC-4A33-778B-5CD9-41CB943B4B45}"/>
              </a:ext>
            </a:extLst>
          </p:cNvPr>
          <p:cNvSpPr txBox="1"/>
          <p:nvPr/>
        </p:nvSpPr>
        <p:spPr>
          <a:xfrm>
            <a:off x="1756193" y="1516189"/>
            <a:ext cx="623235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把组织中的单个细胞分离出来，分别测量每个细胞内部的分子信息，再通过测序读出这些信息。测序完成后，可以统计每个细胞中各个基因的表达量，从而得到一个</a:t>
            </a:r>
            <a:r>
              <a:rPr lang="zh-CN" altLang="en-US" b="1" dirty="0">
                <a:solidFill>
                  <a:schemeClr val="tx2"/>
                </a:solidFill>
              </a:rPr>
              <a:t>“细胞 </a:t>
            </a:r>
            <a:r>
              <a:rPr lang="en-US" altLang="zh-CN" b="1" dirty="0">
                <a:solidFill>
                  <a:schemeClr val="tx2"/>
                </a:solidFill>
              </a:rPr>
              <a:t>× </a:t>
            </a:r>
            <a:r>
              <a:rPr lang="zh-CN" altLang="en-US" b="1" dirty="0">
                <a:solidFill>
                  <a:schemeClr val="tx2"/>
                </a:solidFill>
              </a:rPr>
              <a:t>基因”</a:t>
            </a:r>
            <a:r>
              <a:rPr lang="zh-CN" altLang="en-US" dirty="0"/>
              <a:t>的表达矩阵。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1332C12-A208-2A3D-5086-83F4CB026C0D}"/>
              </a:ext>
            </a:extLst>
          </p:cNvPr>
          <p:cNvSpPr txBox="1"/>
          <p:nvPr/>
        </p:nvSpPr>
        <p:spPr>
          <a:xfrm>
            <a:off x="1777432" y="1037223"/>
            <a:ext cx="3094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单细胞测序技术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0CD02E86-C9A0-2DBB-172E-43DBA5D00985}"/>
              </a:ext>
            </a:extLst>
          </p:cNvPr>
          <p:cNvSpPr txBox="1"/>
          <p:nvPr/>
        </p:nvSpPr>
        <p:spPr>
          <a:xfrm>
            <a:off x="1756193" y="2795374"/>
            <a:ext cx="30949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近似最近邻检索</a:t>
            </a:r>
          </a:p>
        </p:txBody>
      </p:sp>
    </p:spTree>
    <p:extLst>
      <p:ext uri="{BB962C8B-B14F-4D97-AF65-F5344CB8AC3E}">
        <p14:creationId xmlns:p14="http://schemas.microsoft.com/office/powerpoint/2010/main" val="539333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36E69-6B71-08B1-7611-787C21088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A102ED-A3C7-F9C9-F1C0-B5917A474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功能模块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C100C1F-2AFD-EF6C-9B84-365198E4066F}"/>
              </a:ext>
            </a:extLst>
          </p:cNvPr>
          <p:cNvSpPr txBox="1"/>
          <p:nvPr/>
        </p:nvSpPr>
        <p:spPr>
          <a:xfrm>
            <a:off x="2043764" y="5386514"/>
            <a:ext cx="9410299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  <a:sym typeface="+mn-ea"/>
              </a:rPr>
              <a:t>用户信息模块</a:t>
            </a:r>
            <a:endParaRPr lang="en-US" altLang="zh-CN" sz="2000" b="1" dirty="0">
              <a:solidFill>
                <a:srgbClr val="823E75"/>
              </a:solidFill>
              <a:sym typeface="+mn-ea"/>
            </a:endParaRPr>
          </a:p>
          <a:p>
            <a:r>
              <a:rPr lang="zh-CN" altLang="en-US" sz="1800" dirty="0">
                <a:sym typeface="+mn-ea"/>
              </a:rPr>
              <a:t>用户可以通过账号密码注册登录该系统并查看可视化系统，管理员可以进行用户管理等。</a:t>
            </a:r>
            <a:endParaRPr lang="zh-CN" altLang="en-US" sz="18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FAECFCB-26CD-3C07-2526-C1F5FADDB5E9}"/>
              </a:ext>
            </a:extLst>
          </p:cNvPr>
          <p:cNvSpPr txBox="1"/>
          <p:nvPr/>
        </p:nvSpPr>
        <p:spPr>
          <a:xfrm>
            <a:off x="2043764" y="1009061"/>
            <a:ext cx="956430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数据管理模块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该模块负责单细胞数据的导入、读取和组织管理。系统将单细胞样本表示为高维向量，并对输入数据进行格式校验和基础预处理，以保证后续检索流程能够正常进行。</a:t>
            </a:r>
            <a:endParaRPr lang="en-US" altLang="zh-CN" sz="1800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85AF32B-377A-EA6D-7A4B-CBCE47CCEC1A}"/>
              </a:ext>
            </a:extLst>
          </p:cNvPr>
          <p:cNvSpPr txBox="1"/>
          <p:nvPr/>
        </p:nvSpPr>
        <p:spPr>
          <a:xfrm>
            <a:off x="2043764" y="2120919"/>
            <a:ext cx="956430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索引构建模块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该模块负责根据输入数据建立检索索引，并完成索引的构建、保存和加载操作，为高效查询提供支持。</a:t>
            </a:r>
            <a:endParaRPr lang="en-US" altLang="zh-CN" sz="1800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E711D87-A0E2-B3A1-5F39-85BC00C8519E}"/>
              </a:ext>
            </a:extLst>
          </p:cNvPr>
          <p:cNvSpPr txBox="1"/>
          <p:nvPr/>
        </p:nvSpPr>
        <p:spPr>
          <a:xfrm>
            <a:off x="2043764" y="3167422"/>
            <a:ext cx="9689431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查询检索模块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该模块是系统的核心模块之一，负责接收用户输入的查询细胞编号或查询向量，按照设定的参数执行相似性检索，并返回 </a:t>
            </a:r>
            <a:r>
              <a:rPr lang="en-US" altLang="zh-CN" sz="1800" dirty="0"/>
              <a:t>top-k </a:t>
            </a:r>
            <a:r>
              <a:rPr lang="zh-CN" altLang="en-US" sz="1800" dirty="0"/>
              <a:t>个最相近的结果。该模块需要支持基本的检索参数设置，如索引类型、距离度量方式和返回结果数量等。</a:t>
            </a:r>
            <a:endParaRPr lang="en-US" altLang="zh-CN" sz="1800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E91159-FE77-6CF2-E979-59A2E2C766B0}"/>
              </a:ext>
            </a:extLst>
          </p:cNvPr>
          <p:cNvSpPr txBox="1"/>
          <p:nvPr/>
        </p:nvSpPr>
        <p:spPr>
          <a:xfrm>
            <a:off x="2043765" y="4525555"/>
            <a:ext cx="810447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1" dirty="0">
                <a:solidFill>
                  <a:srgbClr val="823E75"/>
                </a:solidFill>
              </a:rPr>
              <a:t>可视化展示模块</a:t>
            </a:r>
            <a:endParaRPr lang="en-US" altLang="zh-CN" sz="2000" b="1" dirty="0">
              <a:solidFill>
                <a:srgbClr val="823E75"/>
              </a:solidFill>
            </a:endParaRPr>
          </a:p>
          <a:p>
            <a:r>
              <a:rPr lang="zh-CN" altLang="en-US" sz="1800" dirty="0"/>
              <a:t>该模块负责将检索结果以直观的形式展示给用户。</a:t>
            </a:r>
            <a:endParaRPr lang="en-US" altLang="zh-CN" sz="1800" dirty="0"/>
          </a:p>
        </p:txBody>
      </p:sp>
    </p:spTree>
    <p:extLst>
      <p:ext uri="{BB962C8B-B14F-4D97-AF65-F5344CB8AC3E}">
        <p14:creationId xmlns:p14="http://schemas.microsoft.com/office/powerpoint/2010/main" val="21664079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CC5A5A-F282-0CE0-D884-F4721D86B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DE7F5F-68AA-89F1-530F-B552D0D27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B718FA7-F39C-42E5-0B5F-E05ADE9B2A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443"/>
          <a:stretch>
            <a:fillRect/>
          </a:stretch>
        </p:blipFill>
        <p:spPr>
          <a:xfrm>
            <a:off x="1756193" y="801826"/>
            <a:ext cx="4339807" cy="23910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CC5E684B-FB92-2ADE-5730-775D0F399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193" y="3291911"/>
            <a:ext cx="5640388" cy="3409561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D45AC9C-E7E6-9177-0253-EC43FF45528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8266"/>
          <a:stretch>
            <a:fillRect/>
          </a:stretch>
        </p:blipFill>
        <p:spPr>
          <a:xfrm>
            <a:off x="7548353" y="3404497"/>
            <a:ext cx="4112010" cy="3184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98A6DAA-6922-F59F-1E43-F26A0ADE9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8740" y="801826"/>
            <a:ext cx="5159153" cy="2391051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0AA5395-5F4C-A52A-C4BC-D0C3C096CE28}"/>
              </a:ext>
            </a:extLst>
          </p:cNvPr>
          <p:cNvSpPr txBox="1"/>
          <p:nvPr/>
        </p:nvSpPr>
        <p:spPr>
          <a:xfrm>
            <a:off x="1893509" y="1593813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数据导入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26D3398-A2EB-201A-00B0-31A4C136FB78}"/>
              </a:ext>
            </a:extLst>
          </p:cNvPr>
          <p:cNvSpPr txBox="1"/>
          <p:nvPr/>
        </p:nvSpPr>
        <p:spPr>
          <a:xfrm>
            <a:off x="7023775" y="1033944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数据展示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BC66EE-5D74-6D0A-939C-F5B877A5CF3D}"/>
              </a:ext>
            </a:extLst>
          </p:cNvPr>
          <p:cNvSpPr txBox="1"/>
          <p:nvPr/>
        </p:nvSpPr>
        <p:spPr>
          <a:xfrm>
            <a:off x="2373169" y="3657780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数据展示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9016499-F093-3CA5-4258-2DC6F627DA93}"/>
              </a:ext>
            </a:extLst>
          </p:cNvPr>
          <p:cNvSpPr txBox="1"/>
          <p:nvPr/>
        </p:nvSpPr>
        <p:spPr>
          <a:xfrm>
            <a:off x="7711981" y="3587632"/>
            <a:ext cx="13764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数据检索</a:t>
            </a:r>
          </a:p>
        </p:txBody>
      </p:sp>
    </p:spTree>
    <p:extLst>
      <p:ext uri="{BB962C8B-B14F-4D97-AF65-F5344CB8AC3E}">
        <p14:creationId xmlns:p14="http://schemas.microsoft.com/office/powerpoint/2010/main" val="6196103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FD473-9DB7-106C-40F6-632049761B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7DEAE5-549E-94FF-920B-98D4892F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B58A485D-B8AF-E974-A720-C263EADE4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7107" y="862669"/>
            <a:ext cx="6704413" cy="321890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AD49B04-038B-45D0-3FBE-41DC49C81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107" y="4081572"/>
            <a:ext cx="6803499" cy="2643328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2CB0B228-A343-2198-99CC-20139ADD34E3}"/>
              </a:ext>
            </a:extLst>
          </p:cNvPr>
          <p:cNvSpPr txBox="1"/>
          <p:nvPr/>
        </p:nvSpPr>
        <p:spPr>
          <a:xfrm>
            <a:off x="2321833" y="1487873"/>
            <a:ext cx="2048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检索结果展示</a:t>
            </a:r>
          </a:p>
        </p:txBody>
      </p:sp>
    </p:spTree>
    <p:extLst>
      <p:ext uri="{BB962C8B-B14F-4D97-AF65-F5344CB8AC3E}">
        <p14:creationId xmlns:p14="http://schemas.microsoft.com/office/powerpoint/2010/main" val="3164846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359C4-7D9B-A39E-DA57-648C8B86C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16C785-13F7-61C3-F71B-05308F0F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软件设计报告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F2A5F9E-87A6-0A5A-FDF2-2AB696556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9241" y="1180949"/>
            <a:ext cx="3581400" cy="5381625"/>
          </a:xfrm>
          <a:prstGeom prst="rect">
            <a:avLst/>
          </a:prstGeom>
        </p:spPr>
      </p:pic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E483949-39FC-8B4D-A595-2E7B5489C784}"/>
              </a:ext>
            </a:extLst>
          </p:cNvPr>
          <p:cNvSpPr txBox="1"/>
          <p:nvPr/>
        </p:nvSpPr>
        <p:spPr>
          <a:xfrm>
            <a:off x="6741942" y="855157"/>
            <a:ext cx="320311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altLang="zh-CN" sz="1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UML</a:t>
            </a:r>
            <a:r>
              <a:rPr lang="zh-CN" altLang="en-US" sz="1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工具推荐</a:t>
            </a:r>
            <a:endParaRPr lang="en-US" altLang="zh-CN" sz="1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algn="just">
              <a:lnSpc>
                <a:spcPct val="150000"/>
              </a:lnSpc>
            </a:pPr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228600" lvl="0" indent="-228600" algn="just" defTabSz="91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Enterprise Architect (EA)</a:t>
            </a:r>
            <a:endParaRPr lang="en-US" altLang="zh-CN" sz="18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lvl="0" indent="-228600" algn="just" defTabSz="91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Rational Rose</a:t>
            </a:r>
            <a:endParaRPr lang="en-US" altLang="zh-CN" sz="18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lvl="0" indent="-228600" algn="just" defTabSz="91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Power Designer (PD)</a:t>
            </a:r>
            <a:endParaRPr lang="en-US" altLang="zh-CN" sz="18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lvl="0" indent="-228600" algn="just" defTabSz="91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sz="1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亿图图示</a:t>
            </a:r>
            <a:endParaRPr lang="en-US" altLang="zh-CN" sz="18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lvl="0" indent="-228600" algn="just" defTabSz="91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GitMind</a:t>
            </a:r>
            <a:endParaRPr lang="en-US" altLang="zh-CN" sz="18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lvl="0" indent="-228600" algn="just" defTabSz="91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 err="1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PlantUML</a:t>
            </a:r>
            <a:endParaRPr lang="en-US" altLang="zh-CN" sz="1800" kern="100" dirty="0">
              <a:solidFill>
                <a:prstClr val="black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228600" lvl="0" indent="-228600" algn="just" defTabSz="914400">
              <a:spcBef>
                <a:spcPts val="6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sz="1800" kern="100" dirty="0">
                <a:solidFill>
                  <a:prstClr val="black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Visual Paradigm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608954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4A160-A9D9-E7A5-874C-DECC5BB4A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D4B08D-C0B4-AA0F-2DEE-5E538685E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作业提交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6C1B8E-7F86-60A0-E745-9346379B714F}"/>
              </a:ext>
            </a:extLst>
          </p:cNvPr>
          <p:cNvSpPr txBox="1"/>
          <p:nvPr/>
        </p:nvSpPr>
        <p:spPr>
          <a:xfrm>
            <a:off x="1756192" y="2395065"/>
            <a:ext cx="91588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小组内内容描述可以一致，图需要个人单独绘制（</a:t>
            </a:r>
            <a:r>
              <a:rPr lang="zh-CN" altLang="en-US" b="1" dirty="0">
                <a:solidFill>
                  <a:srgbClr val="823E75"/>
                </a:solidFill>
              </a:rPr>
              <a:t>放在自己的报告里即可</a:t>
            </a:r>
            <a:r>
              <a:rPr lang="zh-CN" altLang="en-US" dirty="0"/>
              <a:t>）。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15A563D-828A-9B98-2E6C-9502E6FB8131}"/>
              </a:ext>
            </a:extLst>
          </p:cNvPr>
          <p:cNvSpPr txBox="1"/>
          <p:nvPr/>
        </p:nvSpPr>
        <p:spPr>
          <a:xfrm>
            <a:off x="1756193" y="1293228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823E75"/>
                </a:solidFill>
              </a:rPr>
              <a:t>个人提交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8236344-E17F-D095-A2DB-7BF8DB7A3E61}"/>
              </a:ext>
            </a:extLst>
          </p:cNvPr>
          <p:cNvSpPr txBox="1"/>
          <p:nvPr/>
        </p:nvSpPr>
        <p:spPr>
          <a:xfrm>
            <a:off x="1756193" y="3570909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截止时间：</a:t>
            </a:r>
            <a:r>
              <a:rPr lang="en-US" altLang="zh-CN" b="1" dirty="0">
                <a:solidFill>
                  <a:srgbClr val="FF0000"/>
                </a:solidFill>
              </a:rPr>
              <a:t>5</a:t>
            </a:r>
            <a:r>
              <a:rPr lang="zh-CN" altLang="en-US" b="1" dirty="0">
                <a:solidFill>
                  <a:srgbClr val="FF0000"/>
                </a:solidFill>
              </a:rPr>
              <a:t>月</a:t>
            </a:r>
            <a:r>
              <a:rPr lang="en-US" altLang="zh-CN" b="1" dirty="0">
                <a:solidFill>
                  <a:srgbClr val="FF0000"/>
                </a:solidFill>
              </a:rPr>
              <a:t>6</a:t>
            </a:r>
            <a:r>
              <a:rPr lang="zh-CN" altLang="en-US" b="1" dirty="0">
                <a:solidFill>
                  <a:srgbClr val="FF0000"/>
                </a:solidFill>
              </a:rPr>
              <a:t>日</a:t>
            </a:r>
            <a:r>
              <a:rPr lang="en-US" altLang="zh-CN" b="1" dirty="0">
                <a:solidFill>
                  <a:srgbClr val="FF0000"/>
                </a:solidFill>
              </a:rPr>
              <a:t>24</a:t>
            </a:r>
            <a:r>
              <a:rPr lang="zh-CN" altLang="en-US" b="1" dirty="0">
                <a:solidFill>
                  <a:srgbClr val="FF0000"/>
                </a:solidFill>
              </a:rPr>
              <a:t>点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0F3691C-06DE-710F-6765-2C85A3BF7C79}"/>
              </a:ext>
            </a:extLst>
          </p:cNvPr>
          <p:cNvSpPr txBox="1"/>
          <p:nvPr/>
        </p:nvSpPr>
        <p:spPr>
          <a:xfrm>
            <a:off x="1756193" y="2964486"/>
            <a:ext cx="609728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注意</a:t>
            </a:r>
            <a:r>
              <a:rPr lang="en-US" altLang="zh-CN" dirty="0"/>
              <a:t>UML</a:t>
            </a:r>
            <a:r>
              <a:rPr lang="zh-CN" altLang="en-US" dirty="0"/>
              <a:t>图绘制的规范性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D517EB-8DC3-FD3D-2F68-45FCC617FE78}"/>
              </a:ext>
            </a:extLst>
          </p:cNvPr>
          <p:cNvSpPr txBox="1"/>
          <p:nvPr/>
        </p:nvSpPr>
        <p:spPr>
          <a:xfrm>
            <a:off x="1756193" y="1825644"/>
            <a:ext cx="8441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823E75"/>
                </a:solidFill>
              </a:rPr>
              <a:t>组队信息和组号</a:t>
            </a:r>
            <a:r>
              <a:rPr lang="zh-CN" altLang="en-US" dirty="0"/>
              <a:t>参照助教上次在课程群里发布的文件，如果有变动请及时告知。</a:t>
            </a:r>
          </a:p>
        </p:txBody>
      </p:sp>
    </p:spTree>
    <p:extLst>
      <p:ext uri="{BB962C8B-B14F-4D97-AF65-F5344CB8AC3E}">
        <p14:creationId xmlns:p14="http://schemas.microsoft.com/office/powerpoint/2010/main" val="26734590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001E8-5B6F-2D64-2D10-DF245646D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401E061A-E1E1-0582-5737-DFDC3C2FC41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5407" y="-747421"/>
            <a:ext cx="6901186" cy="6858000"/>
          </a:xfrm>
          <a:prstGeom prst="rect">
            <a:avLst/>
          </a:prstGeom>
          <a:effectLst/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27B7310D-DF0D-A8F7-4C3D-152038B69EA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26" t="32441" r="100" b="35502"/>
          <a:stretch>
            <a:fillRect/>
          </a:stretch>
        </p:blipFill>
        <p:spPr>
          <a:xfrm>
            <a:off x="0" y="4836159"/>
            <a:ext cx="12191999" cy="2124102"/>
          </a:xfrm>
          <a:prstGeom prst="rect">
            <a:avLst/>
          </a:prstGeom>
        </p:spPr>
      </p:pic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CF08BEC5-734A-B220-BEBA-F60FE6F131CC}"/>
              </a:ext>
            </a:extLst>
          </p:cNvPr>
          <p:cNvSpPr/>
          <p:nvPr/>
        </p:nvSpPr>
        <p:spPr>
          <a:xfrm>
            <a:off x="-3" y="4836159"/>
            <a:ext cx="12192000" cy="2142423"/>
          </a:xfrm>
          <a:prstGeom prst="rect">
            <a:avLst/>
          </a:prstGeom>
          <a:solidFill>
            <a:srgbClr val="782E6A">
              <a:alpha val="89000"/>
            </a:srgbClr>
          </a:solidFill>
          <a:ln>
            <a:solidFill>
              <a:srgbClr val="782E6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961083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38AA05-76AB-9B2E-94E0-9F036F9B0E28}"/>
              </a:ext>
            </a:extLst>
          </p:cNvPr>
          <p:cNvSpPr txBox="1"/>
          <p:nvPr/>
        </p:nvSpPr>
        <p:spPr>
          <a:xfrm>
            <a:off x="1602216" y="2466574"/>
            <a:ext cx="89875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第三次作业</a:t>
            </a:r>
            <a:r>
              <a:rPr lang="en-US" altLang="zh-CN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6600" b="1" dirty="0">
                <a:solidFill>
                  <a:srgbClr val="96108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软件设计</a:t>
            </a:r>
          </a:p>
        </p:txBody>
      </p:sp>
      <p:pic>
        <p:nvPicPr>
          <p:cNvPr id="12" name="图形 11">
            <a:extLst>
              <a:ext uri="{FF2B5EF4-FFF2-40B4-BE49-F238E27FC236}">
                <a16:creationId xmlns:a16="http://schemas.microsoft.com/office/drawing/2014/main" id="{63B96454-27FE-EA34-2D4F-291438914C7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0579" y="150630"/>
            <a:ext cx="4313618" cy="1691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383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TMzYzVkZTZkMzEwMjZmMjgwNDIyMzJlY2QxOTNjMTkifQ=="/>
</p:tagLst>
</file>

<file path=ppt/theme/theme1.xml><?xml version="1.0" encoding="utf-8"?>
<a:theme xmlns:a="http://schemas.openxmlformats.org/drawingml/2006/main" name="Office 主题​​">
  <a:themeElements>
    <a:clrScheme name="自定义 2">
      <a:dk1>
        <a:sysClr val="windowText" lastClr="000000"/>
      </a:dk1>
      <a:lt1>
        <a:sysClr val="window" lastClr="FFFFFF"/>
      </a:lt1>
      <a:dk2>
        <a:srgbClr val="6F3B55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578</Words>
  <Application>Microsoft Office PowerPoint</Application>
  <PresentationFormat>宽屏</PresentationFormat>
  <Paragraphs>46</Paragraphs>
  <Slides>9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等线</vt:lpstr>
      <vt:lpstr>等线 Light</vt:lpstr>
      <vt:lpstr>黑体</vt:lpstr>
      <vt:lpstr>宋体</vt:lpstr>
      <vt:lpstr>微软雅黑</vt:lpstr>
      <vt:lpstr>Arial</vt:lpstr>
      <vt:lpstr>Calibri</vt:lpstr>
      <vt:lpstr>Office 主题​​</vt:lpstr>
      <vt:lpstr>PowerPoint 演示文稿</vt:lpstr>
      <vt:lpstr>软件工程大作业</vt:lpstr>
      <vt:lpstr>背景</vt:lpstr>
      <vt:lpstr>功能模块</vt:lpstr>
      <vt:lpstr>PowerPoint 演示文稿</vt:lpstr>
      <vt:lpstr>PowerPoint 演示文稿</vt:lpstr>
      <vt:lpstr>软件设计报告</vt:lpstr>
      <vt:lpstr>作业提交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MLOONG</dc:creator>
  <cp:lastModifiedBy>ke li</cp:lastModifiedBy>
  <cp:revision>280</cp:revision>
  <dcterms:created xsi:type="dcterms:W3CDTF">2019-03-06T05:17:00Z</dcterms:created>
  <dcterms:modified xsi:type="dcterms:W3CDTF">2026-04-12T09:05:11Z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39236BE6139B406A98F7F743764F7133_13</vt:lpwstr>
  </property>
  <property fmtid="{D5CDD505-2E9C-101B-9397-08002B2CF9AE}" pid="3" name="KSOProductBuildVer">
    <vt:lpwstr>2052-12.1.0.16929</vt:lpwstr>
  </property>
</Properties>
</file>