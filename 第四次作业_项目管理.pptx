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handoutMasterIdLst>
    <p:handoutMasterId r:id="rId11"/>
  </p:handoutMasterIdLst>
  <p:sldIdLst>
    <p:sldId id="256" r:id="rId2"/>
    <p:sldId id="822" r:id="rId3"/>
    <p:sldId id="835" r:id="rId4"/>
    <p:sldId id="832" r:id="rId5"/>
    <p:sldId id="836" r:id="rId6"/>
    <p:sldId id="833" r:id="rId7"/>
    <p:sldId id="838" r:id="rId8"/>
    <p:sldId id="837" r:id="rId9"/>
  </p:sldIdLst>
  <p:sldSz cx="12192000" cy="6858000"/>
  <p:notesSz cx="6858000" cy="9144000"/>
  <p:custDataLst>
    <p:tags r:id="rId1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9EC782A0-D5D3-480F-8DDF-1BF1EBC68B32}">
          <p14:sldIdLst>
            <p14:sldId id="256"/>
            <p14:sldId id="822"/>
            <p14:sldId id="835"/>
            <p14:sldId id="832"/>
            <p14:sldId id="836"/>
            <p14:sldId id="833"/>
            <p14:sldId id="838"/>
            <p14:sldId id="83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23E75"/>
    <a:srgbClr val="F5E3F1"/>
    <a:srgbClr val="FBF3F9"/>
    <a:srgbClr val="F7E9F4"/>
    <a:srgbClr val="EED2E9"/>
    <a:srgbClr val="782E6A"/>
    <a:srgbClr val="DEB4D3"/>
    <a:srgbClr val="763365"/>
    <a:srgbClr val="602A52"/>
    <a:srgbClr val="B486A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09" autoAdjust="0"/>
    <p:restoredTop sz="75334" autoAdjust="0"/>
  </p:normalViewPr>
  <p:slideViewPr>
    <p:cSldViewPr snapToGrid="0">
      <p:cViewPr varScale="1">
        <p:scale>
          <a:sx n="83" d="100"/>
          <a:sy n="83" d="100"/>
        </p:scale>
        <p:origin x="14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gs" Target="tags/tag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2026/5/11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14EB27-F56E-4B38-A64D-77E916C7E3C2}" type="datetimeFigureOut">
              <a:rPr lang="zh-CN" altLang="en-US" smtClean="0"/>
              <a:t>2026/5/11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F0C2E0-DB0F-47C5-A43C-C8ACA6B3255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451D52-2092-47CA-95C8-A980C030BFB8}" type="datetimeFigureOut">
              <a:rPr lang="zh-CN" altLang="en-US" smtClean="0"/>
              <a:t>2026/5/11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4EEEE-F59F-4B6D-B007-3B73B55D0A5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3590"/>
          <a:stretch>
            <a:fillRect/>
          </a:stretch>
        </p:blipFill>
        <p:spPr>
          <a:xfrm>
            <a:off x="1" y="0"/>
            <a:ext cx="1491916" cy="6858000"/>
          </a:xfrm>
          <a:prstGeom prst="rect">
            <a:avLst/>
          </a:prstGeom>
        </p:spPr>
      </p:pic>
      <p:sp>
        <p:nvSpPr>
          <p:cNvPr id="10" name="矩形 9"/>
          <p:cNvSpPr/>
          <p:nvPr userDrawn="1"/>
        </p:nvSpPr>
        <p:spPr>
          <a:xfrm>
            <a:off x="-3137" y="0"/>
            <a:ext cx="1491917" cy="6858000"/>
          </a:xfrm>
          <a:prstGeom prst="rect">
            <a:avLst/>
          </a:prstGeom>
          <a:solidFill>
            <a:srgbClr val="782E6A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961083"/>
              </a:solidFill>
            </a:endParaRPr>
          </a:p>
        </p:txBody>
      </p:sp>
      <p:cxnSp>
        <p:nvCxnSpPr>
          <p:cNvPr id="11" name="直接连接符 10"/>
          <p:cNvCxnSpPr/>
          <p:nvPr userDrawn="1"/>
        </p:nvCxnSpPr>
        <p:spPr>
          <a:xfrm>
            <a:off x="1735824" y="732495"/>
            <a:ext cx="8312061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4278" y="123098"/>
            <a:ext cx="1022564" cy="1022564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CEFD8153-04B7-FA14-93AC-0E780E77ED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6193" y="133100"/>
            <a:ext cx="8569349" cy="501280"/>
          </a:xfrm>
        </p:spPr>
        <p:txBody>
          <a:bodyPr/>
          <a:lstStyle>
            <a:lvl1pPr>
              <a:defRPr sz="2400" b="1">
                <a:solidFill>
                  <a:srgbClr val="823E75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0D98BA2-C128-0064-D880-42A681D187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7381F0C-C3ED-C0DC-B5A6-73C63DBFCA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451D52-2092-47CA-95C8-A980C030BFB8}" type="datetimeFigureOut">
              <a:rPr lang="zh-CN" altLang="en-US" smtClean="0"/>
              <a:t>2026/5/11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03B0E05-5352-6866-7D64-FE15EFD80B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725FC96-4BEB-4BF6-BF7B-166471207D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4EEEE-F59F-4B6D-B007-3B73B55D0A5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26513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451D52-2092-47CA-95C8-A980C030BFB8}" type="datetimeFigureOut">
              <a:rPr lang="zh-CN" altLang="en-US" smtClean="0"/>
              <a:t>2026/5/11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4EEEE-F59F-4B6D-B007-3B73B55D0A5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451D52-2092-47CA-95C8-A980C030BFB8}" type="datetimeFigureOut">
              <a:rPr lang="zh-CN" altLang="en-US" smtClean="0"/>
              <a:t>2026/5/11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4EEEE-F59F-4B6D-B007-3B73B55D0A5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451D52-2092-47CA-95C8-A980C030BFB8}" type="datetimeFigureOut">
              <a:rPr lang="zh-CN" altLang="en-US" smtClean="0"/>
              <a:t>2026/5/11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4EEEE-F59F-4B6D-B007-3B73B55D0A5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451D52-2092-47CA-95C8-A980C030BFB8}" type="datetimeFigureOut">
              <a:rPr lang="zh-CN" altLang="en-US" smtClean="0"/>
              <a:t>2026/5/11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4EEEE-F59F-4B6D-B007-3B73B55D0A5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451D52-2092-47CA-95C8-A980C030BFB8}" type="datetimeFigureOut">
              <a:rPr lang="zh-CN" altLang="en-US" smtClean="0"/>
              <a:t>2026/5/11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4EEEE-F59F-4B6D-B007-3B73B55D0A5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451D52-2092-47CA-95C8-A980C030BFB8}" type="datetimeFigureOut">
              <a:rPr lang="zh-CN" altLang="en-US" smtClean="0"/>
              <a:t>2026/5/11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4EEEE-F59F-4B6D-B007-3B73B55D0A5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451D52-2092-47CA-95C8-A980C030BFB8}" type="datetimeFigureOut">
              <a:rPr lang="zh-CN" altLang="en-US" smtClean="0"/>
              <a:t>2026/5/11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4EEEE-F59F-4B6D-B007-3B73B55D0A5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451D52-2092-47CA-95C8-A980C030BFB8}" type="datetimeFigureOut">
              <a:rPr lang="zh-CN" altLang="en-US" smtClean="0"/>
              <a:t>2026/5/11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4EEEE-F59F-4B6D-B007-3B73B55D0A5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451D52-2092-47CA-95C8-A980C030BFB8}" type="datetimeFigureOut">
              <a:rPr lang="zh-CN" altLang="en-US" smtClean="0"/>
              <a:t>2026/5/11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D4EEEE-F59F-4B6D-B007-3B73B55D0A5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3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61" r:id="rId12"/>
    <p:sldLayoutId id="2147483662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sv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2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5407" y="-747421"/>
            <a:ext cx="6901186" cy="6858000"/>
          </a:xfrm>
          <a:prstGeom prst="rect">
            <a:avLst/>
          </a:prstGeom>
          <a:effectLst/>
        </p:spPr>
      </p:pic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26" t="32441" r="100" b="35502"/>
          <a:stretch>
            <a:fillRect/>
          </a:stretch>
        </p:blipFill>
        <p:spPr>
          <a:xfrm>
            <a:off x="0" y="4836159"/>
            <a:ext cx="12191999" cy="2124102"/>
          </a:xfrm>
          <a:prstGeom prst="rect">
            <a:avLst/>
          </a:prstGeom>
        </p:spPr>
      </p:pic>
      <p:sp>
        <p:nvSpPr>
          <p:cNvPr id="17" name="任意多边形: 形状 16"/>
          <p:cNvSpPr/>
          <p:nvPr/>
        </p:nvSpPr>
        <p:spPr>
          <a:xfrm>
            <a:off x="-3" y="4836159"/>
            <a:ext cx="12192000" cy="2142423"/>
          </a:xfrm>
          <a:prstGeom prst="rect">
            <a:avLst/>
          </a:prstGeom>
          <a:solidFill>
            <a:srgbClr val="782E6A">
              <a:alpha val="89000"/>
            </a:srgbClr>
          </a:solidFill>
          <a:ln>
            <a:solidFill>
              <a:srgbClr val="782E6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961083"/>
              </a:solidFill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1602216" y="2466574"/>
            <a:ext cx="8987561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6600" b="1" dirty="0">
                <a:solidFill>
                  <a:srgbClr val="96108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第四次作业</a:t>
            </a:r>
            <a:r>
              <a:rPr lang="en-US" altLang="zh-CN" sz="6600" b="1" dirty="0">
                <a:solidFill>
                  <a:srgbClr val="96108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6600" b="1" dirty="0">
                <a:solidFill>
                  <a:srgbClr val="96108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项目管理</a:t>
            </a:r>
          </a:p>
        </p:txBody>
      </p:sp>
      <p:pic>
        <p:nvPicPr>
          <p:cNvPr id="12" name="图形 11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50579" y="150630"/>
            <a:ext cx="4313618" cy="169161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88152B-5FCD-DE00-C647-920916032B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dirty="0"/>
              <a:t>软件工程作业</a:t>
            </a:r>
            <a:endParaRPr lang="zh-CN" altLang="en-US" dirty="0"/>
          </a:p>
        </p:txBody>
      </p:sp>
      <p:sp>
        <p:nvSpPr>
          <p:cNvPr id="3" name="内容占位符 4">
            <a:extLst>
              <a:ext uri="{FF2B5EF4-FFF2-40B4-BE49-F238E27FC236}">
                <a16:creationId xmlns:a16="http://schemas.microsoft.com/office/drawing/2014/main" id="{1B5BE99C-C2AE-E12F-A07B-27C87ED9B2A9}"/>
              </a:ext>
            </a:extLst>
          </p:cNvPr>
          <p:cNvSpPr txBox="1">
            <a:spLocks/>
          </p:cNvSpPr>
          <p:nvPr/>
        </p:nvSpPr>
        <p:spPr>
          <a:xfrm>
            <a:off x="1814072" y="1413544"/>
            <a:ext cx="10515600" cy="4030912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</a:pPr>
            <a:r>
              <a:rPr lang="zh-CN" altLang="zh-CN" sz="2400" kern="10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实验目标</a:t>
            </a:r>
          </a:p>
          <a:p>
            <a:pPr marL="800100" lvl="1" indent="-342900" algn="just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</a:pP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熟练掌握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git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的基本指令和分支管理指令</a:t>
            </a:r>
          </a:p>
          <a:p>
            <a:pPr marL="800100" lvl="1" indent="-342900" algn="just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</a:pP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掌握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git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支持软件配置管理的核心机理</a:t>
            </a:r>
          </a:p>
          <a:p>
            <a:pPr marL="800100" lvl="1" indent="-342900" algn="just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</a:pPr>
            <a:r>
              <a:rPr lang="zh-CN" altLang="en-US" sz="2400">
                <a:sym typeface="+mn-ea"/>
              </a:rPr>
              <a:t>在实践项目中使用</a:t>
            </a:r>
            <a:r>
              <a:rPr lang="en-US" altLang="zh-CN" sz="2400">
                <a:sym typeface="+mn-ea"/>
              </a:rPr>
              <a:t>git/github/gitee</a:t>
            </a:r>
            <a:r>
              <a:rPr lang="zh-CN" altLang="en-US" sz="2400">
                <a:sym typeface="+mn-ea"/>
              </a:rPr>
              <a:t>管理自己的项目源代码</a:t>
            </a:r>
          </a:p>
          <a:p>
            <a:pPr marL="800100" lvl="1" indent="-342900" algn="just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</a:pPr>
            <a:r>
              <a:rPr lang="zh-CN" altLang="en-US" sz="2400">
                <a:sym typeface="+mn-ea"/>
              </a:rPr>
              <a:t>本次实验由</a:t>
            </a:r>
            <a:r>
              <a:rPr lang="zh-CN" altLang="en-US" sz="2400" b="1">
                <a:solidFill>
                  <a:srgbClr val="FF0000"/>
                </a:solidFill>
                <a:sym typeface="+mn-ea"/>
              </a:rPr>
              <a:t>个人独立完成</a:t>
            </a:r>
            <a:endParaRPr lang="en-US" altLang="zh-CN" sz="2400" kern="1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694310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41E1A9-D964-9450-DE79-7A3888B2CD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3756CA3-D6CB-8A8E-2397-35CE5FBB33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dirty="0"/>
              <a:t>软件工程作业</a:t>
            </a:r>
            <a:endParaRPr lang="zh-CN" altLang="en-US" dirty="0"/>
          </a:p>
        </p:txBody>
      </p:sp>
      <p:sp>
        <p:nvSpPr>
          <p:cNvPr id="4" name="内容占位符 4">
            <a:extLst>
              <a:ext uri="{FF2B5EF4-FFF2-40B4-BE49-F238E27FC236}">
                <a16:creationId xmlns:a16="http://schemas.microsoft.com/office/drawing/2014/main" id="{7DCCA610-C2CF-E903-A1A5-C9209007248C}"/>
              </a:ext>
            </a:extLst>
          </p:cNvPr>
          <p:cNvSpPr txBox="1">
            <a:spLocks/>
          </p:cNvSpPr>
          <p:nvPr/>
        </p:nvSpPr>
        <p:spPr>
          <a:xfrm>
            <a:off x="1969824" y="2506662"/>
            <a:ext cx="10515600" cy="43513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Linux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和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Windows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下的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Git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安装操作二选一即可</a:t>
            </a:r>
          </a:p>
          <a:p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使用命令行方式完成实验，避免图形界面下的操作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3C8BCEDB-A123-8E9E-1BF0-9342A0643619}"/>
              </a:ext>
            </a:extLst>
          </p:cNvPr>
          <p:cNvSpPr txBox="1">
            <a:spLocks/>
          </p:cNvSpPr>
          <p:nvPr/>
        </p:nvSpPr>
        <p:spPr>
          <a:xfrm>
            <a:off x="1969824" y="90773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rgbClr val="823E75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j-cs"/>
              </a:defRPr>
            </a:lvl1pPr>
          </a:lstStyle>
          <a:p>
            <a:r>
              <a:rPr lang="zh-CN" altLang="en-US" dirty="0">
                <a:ea typeface="+mj-lt"/>
                <a:cs typeface="+mj-lt"/>
                <a:sym typeface="+mn-ea"/>
              </a:rPr>
              <a:t>在本地机器上安装</a:t>
            </a:r>
            <a:r>
              <a:rPr lang="en-US" altLang="zh-CN" dirty="0">
                <a:ea typeface="+mj-lt"/>
                <a:cs typeface="+mj-lt"/>
                <a:sym typeface="+mn-ea"/>
              </a:rPr>
              <a:t>Git</a:t>
            </a:r>
            <a:endParaRPr lang="zh-CN" altLang="en-US" dirty="0">
              <a:ea typeface="+mj-lt"/>
              <a:cs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5506202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428A3C-A7A2-636D-AEF3-EAE5D35F32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A1E03F0-1FBC-0014-2682-330D921445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2339" y="114485"/>
            <a:ext cx="8569349" cy="501280"/>
          </a:xfrm>
        </p:spPr>
        <p:txBody>
          <a:bodyPr/>
          <a:lstStyle/>
          <a:p>
            <a:r>
              <a:rPr lang="zh-CN" altLang="zh-CN" dirty="0"/>
              <a:t>软件工程作业</a:t>
            </a:r>
            <a:endParaRPr lang="zh-CN" altLang="en-US" dirty="0"/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944AF0D4-0704-1597-5031-4E676B87FBBF}"/>
              </a:ext>
            </a:extLst>
          </p:cNvPr>
          <p:cNvSpPr txBox="1">
            <a:spLocks/>
          </p:cNvSpPr>
          <p:nvPr/>
        </p:nvSpPr>
        <p:spPr>
          <a:xfrm>
            <a:off x="1732339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rgbClr val="823E75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j-cs"/>
              </a:defRPr>
            </a:lvl1pPr>
          </a:lstStyle>
          <a:p>
            <a:r>
              <a:rPr lang="zh-CN" altLang="en-US" dirty="0">
                <a:ea typeface="+mj-lt"/>
                <a:cs typeface="+mj-lt"/>
                <a:sym typeface="+mn-ea"/>
              </a:rPr>
              <a:t>实验场景</a:t>
            </a:r>
            <a:r>
              <a:rPr lang="en-US" altLang="zh-CN" dirty="0">
                <a:ea typeface="+mj-lt"/>
                <a:cs typeface="+mj-lt"/>
                <a:sym typeface="+mn-ea"/>
              </a:rPr>
              <a:t>(1)</a:t>
            </a:r>
            <a:r>
              <a:rPr lang="zh-CN" altLang="en-US" dirty="0">
                <a:ea typeface="+mj-lt"/>
                <a:cs typeface="+mj-lt"/>
                <a:sym typeface="+mn-ea"/>
              </a:rPr>
              <a:t>：仓库创建与提交</a:t>
            </a:r>
            <a:endParaRPr lang="zh-CN" altLang="en-US" dirty="0">
              <a:ea typeface="+mj-lt"/>
              <a:cs typeface="+mj-lt"/>
            </a:endParaRP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81983A7C-965E-2A0E-2819-63098DA505C9}"/>
              </a:ext>
            </a:extLst>
          </p:cNvPr>
          <p:cNvSpPr txBox="1">
            <a:spLocks/>
          </p:cNvSpPr>
          <p:nvPr/>
        </p:nvSpPr>
        <p:spPr>
          <a:xfrm>
            <a:off x="1732339" y="1534960"/>
            <a:ext cx="10515600" cy="4351338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R0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：针对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R1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和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R7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，在进行每次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git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操作之前，随时查看工作区、暂存区、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git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仓库的状态，确认项目里的各文件当前处于什么状态；</a:t>
            </a:r>
            <a:endParaRPr lang="zh-CN" altLang="en-US" sz="20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R1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：本地初始化一个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git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仓库，将源文件加入进去，纳入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git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管理；</a:t>
            </a:r>
            <a:endParaRPr lang="zh-CN" altLang="en-US" sz="20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R2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：提交；</a:t>
            </a:r>
            <a:endParaRPr lang="zh-CN" altLang="en-US" sz="20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手工对其中的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3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个文件进行修改；</a:t>
            </a:r>
            <a:endParaRPr lang="zh-CN" altLang="en-US" sz="20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R3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：查看上次提交之后都有哪些文件修改、具体修改内容是什么（查看修改后的文件和暂存区域中相应文件的差别）；</a:t>
            </a:r>
            <a:endParaRPr lang="zh-CN" altLang="en-US" sz="20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R4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：重新提交；</a:t>
            </a:r>
            <a:endParaRPr lang="zh-CN" altLang="en-US" sz="20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再次对这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3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个文件进行修改； </a:t>
            </a:r>
            <a:endParaRPr lang="zh-CN" altLang="en-US" sz="20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R5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：重新提交</a:t>
            </a:r>
            <a:endParaRPr lang="zh-CN" altLang="en-US" sz="20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R6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：把最后一次提交撤销；</a:t>
            </a:r>
            <a:endParaRPr lang="zh-CN" altLang="en-US" sz="20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R7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：查询提交记录；</a:t>
            </a:r>
          </a:p>
        </p:txBody>
      </p:sp>
    </p:spTree>
    <p:extLst>
      <p:ext uri="{BB962C8B-B14F-4D97-AF65-F5344CB8AC3E}">
        <p14:creationId xmlns:p14="http://schemas.microsoft.com/office/powerpoint/2010/main" val="31083196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4D633B-BE0A-4127-E96E-FF0A258FFA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AB66C29-CC33-0AC5-5E98-04CB2A60C6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dirty="0"/>
              <a:t>软件工程作业</a:t>
            </a:r>
            <a:endParaRPr lang="zh-CN" altLang="en-US" dirty="0"/>
          </a:p>
        </p:txBody>
      </p:sp>
      <p:sp>
        <p:nvSpPr>
          <p:cNvPr id="4" name="内容占位符 4">
            <a:extLst>
              <a:ext uri="{FF2B5EF4-FFF2-40B4-BE49-F238E27FC236}">
                <a16:creationId xmlns:a16="http://schemas.microsoft.com/office/drawing/2014/main" id="{79A77470-9979-2C81-66EC-686C973EFF4D}"/>
              </a:ext>
            </a:extLst>
          </p:cNvPr>
          <p:cNvSpPr txBox="1">
            <a:spLocks/>
          </p:cNvSpPr>
          <p:nvPr/>
        </p:nvSpPr>
        <p:spPr>
          <a:xfrm>
            <a:off x="1537915" y="1654230"/>
            <a:ext cx="10515600" cy="4351338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在你的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Github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网站上，通过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web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界面建立一个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project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，将不少于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10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个文件（程序代码、文档等）加入进去，形成初始分支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B1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；在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B1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基础上建立两个并行的分支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B2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、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B3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，手工对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B2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和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B3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上的某些文件进行不同程度的修改并提交；</a:t>
            </a:r>
            <a:endParaRPr lang="zh-CN" altLang="en-US"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R8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：从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Github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上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(URL)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克隆一个已有的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git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仓库到本地；</a:t>
            </a:r>
            <a:endParaRPr lang="zh-CN" altLang="en-US"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R9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：获得该仓库的全部分支；</a:t>
            </a:r>
            <a:endParaRPr lang="zh-CN" altLang="en-US"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R10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：在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B2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分支基础上创建一个新分支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C4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；</a:t>
            </a:r>
            <a:endParaRPr lang="zh-CN" altLang="en-US"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R11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：在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C4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上，对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4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个文件进行修改并提交；</a:t>
            </a:r>
            <a:endParaRPr lang="zh-CN" altLang="en-US"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R12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：在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B3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分支上对同样的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4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个文件做不同修改并提交；</a:t>
            </a:r>
            <a:endParaRPr lang="zh-CN" altLang="en-US"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R13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：将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C4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和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B3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分支合并，若有冲突，手工消解；</a:t>
            </a:r>
            <a:endParaRPr lang="zh-CN" altLang="en-US"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R14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：查看目前哪些分支已经合并、哪些分支尚未合并；</a:t>
            </a:r>
            <a:endParaRPr lang="zh-CN" altLang="en-US"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R15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：将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C4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和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B3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合并后的分支删除，将尚未合并的分支合并到一个新分支上，分支名字为你的学号；</a:t>
            </a:r>
            <a:endParaRPr lang="zh-CN" altLang="en-US" sz="20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2A3C34A6-F468-D74E-C4BB-CCCC443745E6}"/>
              </a:ext>
            </a:extLst>
          </p:cNvPr>
          <p:cNvSpPr txBox="1">
            <a:spLocks/>
          </p:cNvSpPr>
          <p:nvPr/>
        </p:nvSpPr>
        <p:spPr>
          <a:xfrm>
            <a:off x="1676400" y="62678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rgbClr val="823E75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j-cs"/>
              </a:defRPr>
            </a:lvl1pPr>
          </a:lstStyle>
          <a:p>
            <a:r>
              <a:rPr lang="zh-CN" altLang="en-US">
                <a:ea typeface="+mj-lt"/>
                <a:cs typeface="+mj-lt"/>
                <a:sym typeface="+mn-ea"/>
              </a:rPr>
              <a:t>实验场景</a:t>
            </a:r>
            <a:r>
              <a:rPr lang="en-US" altLang="zh-CN">
                <a:ea typeface="+mj-lt"/>
                <a:cs typeface="+mj-lt"/>
                <a:sym typeface="+mn-ea"/>
              </a:rPr>
              <a:t>(2)</a:t>
            </a:r>
            <a:r>
              <a:rPr lang="zh-CN" altLang="en-US">
                <a:ea typeface="+mj-lt"/>
                <a:cs typeface="+mj-lt"/>
                <a:sym typeface="+mn-ea"/>
              </a:rPr>
              <a:t>：</a:t>
            </a:r>
            <a:r>
              <a:rPr lang="zh-CN" altLang="en-US">
                <a:sym typeface="+mn-ea"/>
              </a:rPr>
              <a:t>分支管理</a:t>
            </a:r>
            <a:endParaRPr lang="zh-CN" altLang="en-US" dirty="0">
              <a:ea typeface="+mj-lt"/>
              <a:cs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3702159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B70201-29D4-DDD0-8573-540D0FE628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DED1153-85DE-D4D5-B381-408C0B6253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dirty="0"/>
              <a:t>软件工程作业</a:t>
            </a:r>
            <a:endParaRPr lang="zh-CN" altLang="en-US" dirty="0"/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99A54928-9F81-CA45-425F-38CC01C7ECD4}"/>
              </a:ext>
            </a:extLst>
          </p:cNvPr>
          <p:cNvSpPr txBox="1">
            <a:spLocks/>
          </p:cNvSpPr>
          <p:nvPr/>
        </p:nvSpPr>
        <p:spPr>
          <a:xfrm>
            <a:off x="1756193" y="38374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rgbClr val="823E75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j-cs"/>
              </a:defRPr>
            </a:lvl1pPr>
          </a:lstStyle>
          <a:p>
            <a:r>
              <a:rPr lang="zh-CN" altLang="en-US">
                <a:ea typeface="+mj-lt"/>
                <a:cs typeface="+mj-lt"/>
                <a:sym typeface="+mn-ea"/>
              </a:rPr>
              <a:t>实验场景</a:t>
            </a:r>
            <a:r>
              <a:rPr lang="en-US" altLang="zh-CN">
                <a:ea typeface="+mj-lt"/>
                <a:cs typeface="+mj-lt"/>
                <a:sym typeface="+mn-ea"/>
              </a:rPr>
              <a:t>(3)</a:t>
            </a:r>
            <a:r>
              <a:rPr lang="zh-CN" altLang="en-US">
                <a:ea typeface="+mj-lt"/>
                <a:cs typeface="+mj-lt"/>
                <a:sym typeface="+mn-ea"/>
              </a:rPr>
              <a:t>：</a:t>
            </a:r>
            <a:r>
              <a:rPr lang="zh-CN" altLang="en-US">
                <a:sym typeface="+mn-ea"/>
              </a:rPr>
              <a:t>远程分支管理</a:t>
            </a:r>
            <a:endParaRPr lang="zh-CN" altLang="en-US" dirty="0">
              <a:ea typeface="+mj-lt"/>
              <a:cs typeface="+mj-lt"/>
            </a:endParaRP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A99043AD-88BD-676E-2B55-8D0F7AB12940}"/>
              </a:ext>
            </a:extLst>
          </p:cNvPr>
          <p:cNvSpPr txBox="1">
            <a:spLocks/>
          </p:cNvSpPr>
          <p:nvPr/>
        </p:nvSpPr>
        <p:spPr>
          <a:xfrm>
            <a:off x="1756193" y="1606523"/>
            <a:ext cx="10515600" cy="4351338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R16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：将本地以你的学号命名的分支推送到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Github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上；</a:t>
            </a:r>
            <a:endParaRPr lang="en-US" altLang="zh-CN"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R17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：将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R1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到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R7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各步骤得到的结果推送到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Github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上。</a:t>
            </a:r>
            <a:endParaRPr lang="zh-CN" altLang="en-US"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R18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：在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Github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网站以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web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页面的方式查看你的两个仓库的当前状态。</a:t>
            </a:r>
            <a:endParaRPr lang="zh-CN" altLang="en-US" sz="20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380767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28F063-D400-5CD7-FE18-D1DE5A23DD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C30595-BDF7-C17F-BAC3-114B59D5B8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dirty="0"/>
              <a:t>软件工程作业</a:t>
            </a:r>
            <a:endParaRPr lang="zh-CN" altLang="en-US" dirty="0"/>
          </a:p>
        </p:txBody>
      </p:sp>
      <p:sp>
        <p:nvSpPr>
          <p:cNvPr id="3" name="内容占位符 4">
            <a:extLst>
              <a:ext uri="{FF2B5EF4-FFF2-40B4-BE49-F238E27FC236}">
                <a16:creationId xmlns:a16="http://schemas.microsoft.com/office/drawing/2014/main" id="{ABCD3BC9-AD27-A996-E102-4D1D9D0C2A73}"/>
              </a:ext>
            </a:extLst>
          </p:cNvPr>
          <p:cNvSpPr txBox="1">
            <a:spLocks/>
          </p:cNvSpPr>
          <p:nvPr/>
        </p:nvSpPr>
        <p:spPr>
          <a:xfrm>
            <a:off x="2068926" y="1157771"/>
            <a:ext cx="7719646" cy="286131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algn="just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请遵循实验报告模板撰写</a:t>
            </a:r>
          </a:p>
          <a:p>
            <a:pPr marL="228600" algn="just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</a:pPr>
            <a:r>
              <a:rPr lang="zh-CN" altLang="en-US" sz="2000" kern="1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提交到统一项目管理平台</a:t>
            </a:r>
          </a:p>
          <a:p>
            <a:pPr marL="228600" algn="just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截至日期：0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5.18</a:t>
            </a:r>
            <a:endParaRPr lang="zh-CN" altLang="en-US" sz="20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228600" algn="just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</a:pPr>
            <a:r>
              <a:rPr lang="zh-CN" altLang="en-US" sz="20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本次实验由个人单独完成</a:t>
            </a:r>
            <a:endParaRPr lang="zh-CN" altLang="en-US" sz="2000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9359033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1F9719-BED6-E4C2-9969-1489E7AB9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E89EE078-8727-31DF-BB41-861E54528F8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5407" y="-747421"/>
            <a:ext cx="6901186" cy="6858000"/>
          </a:xfrm>
          <a:prstGeom prst="rect">
            <a:avLst/>
          </a:prstGeom>
          <a:effectLst/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411FC5C9-D9D4-BED5-0E2B-C18F26EE029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26" t="32441" r="100" b="35502"/>
          <a:stretch>
            <a:fillRect/>
          </a:stretch>
        </p:blipFill>
        <p:spPr>
          <a:xfrm>
            <a:off x="0" y="4836159"/>
            <a:ext cx="12191999" cy="2124102"/>
          </a:xfrm>
          <a:prstGeom prst="rect">
            <a:avLst/>
          </a:prstGeom>
        </p:spPr>
      </p:pic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9619D223-E44F-00CE-981E-38EC9A051383}"/>
              </a:ext>
            </a:extLst>
          </p:cNvPr>
          <p:cNvSpPr/>
          <p:nvPr/>
        </p:nvSpPr>
        <p:spPr>
          <a:xfrm>
            <a:off x="-3" y="4836159"/>
            <a:ext cx="12192000" cy="2142423"/>
          </a:xfrm>
          <a:prstGeom prst="rect">
            <a:avLst/>
          </a:prstGeom>
          <a:solidFill>
            <a:srgbClr val="782E6A">
              <a:alpha val="89000"/>
            </a:srgbClr>
          </a:solidFill>
          <a:ln>
            <a:solidFill>
              <a:srgbClr val="782E6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961083"/>
              </a:solidFill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C3EAB638-4CCF-78A6-2987-3C2BEE95495E}"/>
              </a:ext>
            </a:extLst>
          </p:cNvPr>
          <p:cNvSpPr txBox="1"/>
          <p:nvPr/>
        </p:nvSpPr>
        <p:spPr>
          <a:xfrm>
            <a:off x="1602216" y="2466574"/>
            <a:ext cx="8987561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6600" b="1" dirty="0">
                <a:solidFill>
                  <a:srgbClr val="96108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第四次作业</a:t>
            </a:r>
            <a:r>
              <a:rPr lang="en-US" altLang="zh-CN" sz="6600" b="1" dirty="0">
                <a:solidFill>
                  <a:srgbClr val="96108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6600" b="1" dirty="0">
                <a:solidFill>
                  <a:srgbClr val="96108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项目管理</a:t>
            </a:r>
          </a:p>
        </p:txBody>
      </p:sp>
      <p:pic>
        <p:nvPicPr>
          <p:cNvPr id="12" name="图形 11">
            <a:extLst>
              <a:ext uri="{FF2B5EF4-FFF2-40B4-BE49-F238E27FC236}">
                <a16:creationId xmlns:a16="http://schemas.microsoft.com/office/drawing/2014/main" id="{C3A0FC95-7331-CFAC-8B88-EDEB71631F7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50579" y="150630"/>
            <a:ext cx="4313618" cy="1691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118674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OTMzYzVkZTZkMzEwMjZmMjgwNDIyMzJlY2QxOTNjMTkifQ=="/>
</p:tagLst>
</file>

<file path=ppt/theme/theme1.xml><?xml version="1.0" encoding="utf-8"?>
<a:theme xmlns:a="http://schemas.openxmlformats.org/drawingml/2006/main" name="Office 主题​​">
  <a:themeElements>
    <a:clrScheme name="自定义 2">
      <a:dk1>
        <a:sysClr val="windowText" lastClr="000000"/>
      </a:dk1>
      <a:lt1>
        <a:sysClr val="window" lastClr="FFFFFF"/>
      </a:lt1>
      <a:dk2>
        <a:srgbClr val="6F3B55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</TotalTime>
  <Words>542</Words>
  <Application>Microsoft Office PowerPoint</Application>
  <PresentationFormat>宽屏</PresentationFormat>
  <Paragraphs>47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6" baseType="lpstr">
      <vt:lpstr>等线</vt:lpstr>
      <vt:lpstr>等线 Light</vt:lpstr>
      <vt:lpstr>黑体</vt:lpstr>
      <vt:lpstr>宋体</vt:lpstr>
      <vt:lpstr>微软雅黑</vt:lpstr>
      <vt:lpstr>Arial</vt:lpstr>
      <vt:lpstr>Calibri</vt:lpstr>
      <vt:lpstr>Office 主题​​</vt:lpstr>
      <vt:lpstr>PowerPoint 演示文稿</vt:lpstr>
      <vt:lpstr>软件工程作业</vt:lpstr>
      <vt:lpstr>软件工程作业</vt:lpstr>
      <vt:lpstr>软件工程作业</vt:lpstr>
      <vt:lpstr>软件工程作业</vt:lpstr>
      <vt:lpstr>软件工程作业</vt:lpstr>
      <vt:lpstr>软件工程作业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MLOONG</dc:creator>
  <cp:lastModifiedBy>ke li</cp:lastModifiedBy>
  <cp:revision>279</cp:revision>
  <dcterms:created xsi:type="dcterms:W3CDTF">2019-03-06T05:17:00Z</dcterms:created>
  <dcterms:modified xsi:type="dcterms:W3CDTF">2026-05-11T04:24:15Z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39236BE6139B406A98F7F743764F7133_13</vt:lpwstr>
  </property>
  <property fmtid="{D5CDD505-2E9C-101B-9397-08002B2CF9AE}" pid="3" name="KSOProductBuildVer">
    <vt:lpwstr>2052-12.1.0.16929</vt:lpwstr>
  </property>
</Properties>
</file>